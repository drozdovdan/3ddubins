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- Owen, Beard, McLain (2014), Implementing Dubins Airplane Paths on Fixed-wing UAVs: https://scholarsarchive.byu.edu/facpub/1900/</a:t>
            </a:r>
          </a:p>
          <a:p>
            <a:r>
              <a:t>- Váňa et al. (2020), Minimal 3D Dubins Path with Bounded Curvature and Pitch Angle: https://comrob.fel.cvut.cz/papers/icra20dubins3d.pdf</a:t>
            </a:r>
          </a:p>
          <a:p>
            <a:r>
              <a:t>- Lim et al. (2024), Safe Low-Altitude Navigation in Steep Terrain with Fixed-Wing Aerial Vehicles: https://arxiv.org/abs/2401.04831</a:t>
            </a:r>
          </a:p>
          <a:p>
            <a:r>
              <a:t>- Lim et al. implementation (RRT* in Dubins Airplane space): https://github.com/ethz-asl/terrain-navigation2</a:t>
            </a:r>
          </a:p>
          <a:p>
            <a:r>
              <a:t>- Local implementation: dubins_airplane/core.py; docs/KNOWLEDGE_GUIDE.md.</a:t>
            </a:r>
          </a:p>
          <a:p>
            <a:r>
              <a:t>[/Sources]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A7F45C48-16D4-4B9D-9B59-D3184E7AAA94}"/>
              </a:ext>
            </a:extLst>
          </p:cNvPr>
          <p:cNvSpPr>
            <a:spLocks noGrp="1"/>
          </p:cNvSpPr>
          <p:nvPr/>
        </p:nvSpPr>
        <p:spPr>
          <a:xfrm>
            <a:off x="390525" y="314325"/>
            <a:ext cx="114014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3D Dubins: что дают ключевые статьи</a:t>
            </a:r>
          </a:p>
        </p:txBody>
      </p:sp>
      <p:sp>
        <p:nvSpPr>
          <p:cNvPr id="2" name="intro">
            <a:extLst>
              <a:ext uri="{FF2B5EF4-FFF2-40B4-BE49-F238E27FC236}">
                <a16:creationId xmlns:a16="http://schemas.microsoft.com/office/drawing/2014/main" id="{7CFAC4F1-E25C-4E4C-AB44-ACE4A060A98D}"/>
              </a:ext>
            </a:extLst>
          </p:cNvPr>
          <p:cNvSpPr>
            <a:spLocks noGrp="1"/>
          </p:cNvSpPr>
          <p:nvPr/>
        </p:nvSpPr>
        <p:spPr>
          <a:xfrm>
            <a:off x="400050" y="1114425"/>
            <a:ext cx="11391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Три уровня задачи: выполнимый участок полёта → точнее 3D-ограничения → безопасный маршрут над рельефом.</a:t>
            </a:r>
          </a:p>
        </p:txBody>
      </p:sp>
      <p:graphicFrame>
        <p:nvGraphicFramePr>
          <p:cNvPr id="8" name="Таблица 7"/>
          <p:cNvGraphicFramePr/>
          <p:nvPr>
            <p:extLst>
              <p:ext uri="{D42A27DB-BD31-4B8C-83A1-F6EECF244321}">
                <p14:modId xmlns:p14="http://schemas.microsoft.com/office/powerpoint/2010/main" val="927237003"/>
              </p:ext>
            </p:extLst>
          </p:nvPr>
        </p:nvGraphicFramePr>
        <p:xfrm>
          <a:off x="390525" y="2114550"/>
          <a:ext cx="11401425" cy="374332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123825" marR="104775" marT="76200" marB="57150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устроено</a:t>
                      </a:r>
                    </a:p>
                  </a:txBody>
                  <a:tcPr marL="123825" marR="104775" marT="76200" marB="57150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Плюс</a:t>
                      </a:r>
                    </a:p>
                  </a:txBody>
                  <a:tcPr marL="123825" marR="104775" marT="76200" marB="57150" anchor="ctr">
                    <a:solidFill>
                      <a:srgbClr val="202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Минус / граница</a:t>
                      </a:r>
                    </a:p>
                  </a:txBody>
                  <a:tcPr marL="123825" marR="104775" marT="76200" marB="57150" anchor="ctr">
                    <a:solidFill>
                      <a:srgbClr val="202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Оуэн, Бирд, Маклейн</a:t>
                      </a:r>
                    </a:p>
                    <a:p>
                      <a:r>
                        <a:rPr sz="1425" b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2014</a:t>
                      </a:r>
                    </a:p>
                  </a:txBody>
                  <a:tcPr marL="123825" marR="104775" marT="76200" marB="5715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Дуги и прямая в плане + изменение высоты; при нехватке длины — спираль.</a:t>
                      </a:r>
                    </a:p>
                  </a:txBody>
                  <a:tcPr marL="123825" marR="104775" marT="76200" marB="5715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Просто и быстро для самолёта.</a:t>
                      </a:r>
                    </a:p>
                  </a:txBody>
                  <a:tcPr marL="123825" marR="104775" marT="76200" marB="5715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Без рельефа и ветра; не гарантирует кратчайший 3D-путь.</a:t>
                      </a:r>
                    </a:p>
                  </a:txBody>
                  <a:tcPr marL="123825" marR="104775" marT="76200" marB="5715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r>
                        <a:rPr sz="1425" b="1" dirty="0" err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Ван</a:t>
                      </a:r>
                      <a:r>
                        <a:rPr lang="ru-RU" sz="1425" b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я</a:t>
                      </a:r>
                      <a:r>
                        <a:rPr sz="1425" b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425" b="1" dirty="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и </a:t>
                      </a:r>
                      <a:r>
                        <a:rPr sz="1425" b="1" dirty="0" err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соавт</a:t>
                      </a:r>
                      <a:r>
                        <a:rPr sz="1425" b="1" dirty="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  <a:p>
                      <a:r>
                        <a:rPr sz="1425" b="1" dirty="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123825" marR="104775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Горизонтальный и вертикальный 2D-пути объединяются локальной оптимизацией.</a:t>
                      </a:r>
                    </a:p>
                  </a:txBody>
                  <a:tcPr marL="123825" marR="104775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Ограничивает 3D-кривизну и угол подъёма; обычно меньше витков.</a:t>
                      </a:r>
                    </a:p>
                  </a:txBody>
                  <a:tcPr marL="123825" marR="104775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Эвристика: глобальный оптимум не доказан.</a:t>
                      </a:r>
                    </a:p>
                  </a:txBody>
                  <a:tcPr marL="123825" marR="104775" marT="7620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Лим и соавт.</a:t>
                      </a:r>
                    </a:p>
                    <a:p>
                      <a:r>
                        <a:rPr sz="1425" b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123825" marR="104775" marT="76200" marB="5715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RRT* соединяет участки Dubins Airplane с проверкой рельефа.</a:t>
                      </a:r>
                    </a:p>
                  </a:txBody>
                  <a:tcPr marL="123825" marR="104775" marT="76200" marB="5715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Строит маршрут, который обходит опасные зоны.</a:t>
                      </a:r>
                    </a:p>
                  </a:txBody>
                  <a:tcPr marL="123825" marR="104775" marT="76200" marB="5715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 err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Нужна</a:t>
                      </a:r>
                      <a:r>
                        <a:rPr sz="1350" dirty="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50" dirty="0" err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карта</a:t>
                      </a:r>
                      <a:r>
                        <a:rPr sz="1350" dirty="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50" dirty="0" err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рельефа</a:t>
                      </a:r>
                      <a:r>
                        <a:rPr sz="1350" dirty="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 и </a:t>
                      </a:r>
                      <a:r>
                        <a:rPr sz="1350" dirty="0" err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больше</a:t>
                      </a:r>
                      <a:r>
                        <a:rPr sz="1350" dirty="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50" dirty="0" err="1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вычислений</a:t>
                      </a:r>
                      <a:r>
                        <a:rPr sz="1350" dirty="0">
                          <a:solidFill>
                            <a:srgbClr val="161D26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123825" marR="104775" marT="76200" marB="5715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akeaway">
            <a:extLst>
              <a:ext uri="{FF2B5EF4-FFF2-40B4-BE49-F238E27FC236}">
                <a16:creationId xmlns:a16="http://schemas.microsoft.com/office/drawing/2014/main" id="{AEA6FA5D-5285-44B4-BDE3-CE78408B8926}"/>
              </a:ext>
            </a:extLst>
          </p:cNvPr>
          <p:cNvSpPr>
            <a:spLocks noGrp="1"/>
          </p:cNvSpPr>
          <p:nvPr/>
        </p:nvSpPr>
        <p:spPr>
          <a:xfrm>
            <a:off x="400050" y="5962650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Наш код — упрощённый Оуэн: 6 вариантов в плане + целые витки спирали; это не полный алгоритм статьи.</a:t>
            </a:r>
          </a:p>
        </p:txBody>
      </p:sp>
      <p:sp>
        <p:nvSpPr>
          <p:cNvPr id="5" name="sources-footer">
            <a:extLst>
              <a:ext uri="{FF2B5EF4-FFF2-40B4-BE49-F238E27FC236}">
                <a16:creationId xmlns:a16="http://schemas.microsoft.com/office/drawing/2014/main" id="{39B495FA-7ED8-45B7-B7B4-66D1D590EDD8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391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Autofit/>
          </a:bodyPr>
          <a:lstStyle/>
          <a:p>
            <a:pPr>
              <a:defRPr sz="1050" b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59616B"/>
                </a:solidFill>
                <a:latin typeface="Arial"/>
                <a:ea typeface="Arial"/>
                <a:cs typeface="Arial"/>
              </a:rPr>
              <a:t>Источники</a:t>
            </a:r>
            <a:r>
              <a:rPr sz="1050" b="0" dirty="0">
                <a:solidFill>
                  <a:srgbClr val="59616B"/>
                </a:solidFill>
                <a:latin typeface="Arial"/>
                <a:ea typeface="Arial"/>
                <a:cs typeface="Arial"/>
              </a:rPr>
              <a:t>: Owen et al. (2014) · </a:t>
            </a:r>
            <a:r>
              <a:rPr sz="1050" b="0" dirty="0" err="1">
                <a:solidFill>
                  <a:srgbClr val="59616B"/>
                </a:solidFill>
                <a:latin typeface="Arial"/>
                <a:ea typeface="Arial"/>
                <a:cs typeface="Arial"/>
              </a:rPr>
              <a:t>Váňa</a:t>
            </a:r>
            <a:r>
              <a:rPr sz="1050" b="0" dirty="0">
                <a:solidFill>
                  <a:srgbClr val="59616B"/>
                </a:solidFill>
                <a:latin typeface="Arial"/>
                <a:ea typeface="Arial"/>
                <a:cs typeface="Arial"/>
              </a:rPr>
              <a:t> et al. (2020) · Lim et al. (2024)</a:t>
            </a:r>
          </a:p>
        </p:txBody>
      </p:sp>
    </p:spTree>
    <p:extLst>
      <p:ext uri="{BB962C8B-B14F-4D97-AF65-F5344CB8AC3E}">
        <p14:creationId xmlns:p14="http://schemas.microsoft.com/office/powerpoint/2010/main" val="1791233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DocSecurity>0</DocSecurity>
  <PresentationFormat>Широкоэкранный</PresentationFormat>
  <Paragraphs>31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Даниил Дроздов</cp:lastModifiedBy>
  <cp:revision>2</cp:revision>
  <dcterms:created xsi:type="dcterms:W3CDTF">2026-09-23T19:57:52Z</dcterms:created>
  <dcterms:modified xsi:type="dcterms:W3CDTF">2026-09-23T20:07:07Z</dcterms:modified>
</cp:coreProperties>
</file>